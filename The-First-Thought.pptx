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1365" cy="6858000"/>
  <p:notesSz cx="6858000" cy="12191365"/>
  <p:embeddedFontLst>
    <p:embeddedFont>
      <p:font typeface="Poppins Light" panose="00000400000000000000" pitchFamily="34" charset="0"/>
      <p:regular r:id="rId21"/>
    </p:embeddedFont>
    <p:embeddedFont>
      <p:font typeface="Poppins Light" panose="00000400000000000000" pitchFamily="34" charset="-122"/>
      <p:regular r:id="rId22"/>
    </p:embeddedFont>
    <p:embeddedFont>
      <p:font typeface="Poppins Light" panose="00000400000000000000" pitchFamily="34" charset="-120"/>
      <p:regular r:id="rId23"/>
    </p:embeddedFont>
    <p:embeddedFont>
      <p:font typeface="Roboto Light" panose="02000000000000000000" pitchFamily="34" charset="0"/>
      <p:regular r:id="rId24"/>
    </p:embeddedFont>
    <p:embeddedFont>
      <p:font typeface="Roboto Light" panose="02000000000000000000" pitchFamily="34" charset="-122"/>
      <p:regular r:id="rId25"/>
    </p:embeddedFont>
    <p:embeddedFont>
      <p:font typeface="Roboto Light" panose="02000000000000000000" pitchFamily="34" charset="-120"/>
      <p:regular r:id="rId26"/>
    </p:embeddedFont>
    <p:embeddedFont>
      <p:font typeface="Poppins Bold" panose="00000800000000000000" pitchFamily="34" charset="0"/>
      <p:bold r:id="rId27"/>
    </p:embeddedFont>
    <p:embeddedFont>
      <p:font typeface="Poppins Bold" panose="00000800000000000000" pitchFamily="34" charset="-122"/>
      <p:bold r:id="rId28"/>
    </p:embeddedFont>
    <p:embeddedFont>
      <p:font typeface="Poppins Bold" panose="00000800000000000000" pitchFamily="34" charset="-120"/>
      <p:bold r:id="rId29"/>
    </p:embeddedFont>
    <p:embeddedFont>
      <p:font typeface="Calibri" panose="020F0502020204030204" charset="0"/>
      <p:regular r:id="rId30"/>
      <p:bold r:id="rId31"/>
      <p:italic r:id="rId32"/>
      <p:boldItalic r:id="rId3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font" Target="fonts/font13.fntdata"/><Relationship Id="rId32" Type="http://schemas.openxmlformats.org/officeDocument/2006/relationships/font" Target="fonts/font12.fntdata"/><Relationship Id="rId31" Type="http://schemas.openxmlformats.org/officeDocument/2006/relationships/font" Target="fonts/font11.fntdata"/><Relationship Id="rId30" Type="http://schemas.openxmlformats.org/officeDocument/2006/relationships/font" Target="fonts/font10.fntdata"/><Relationship Id="rId3" Type="http://schemas.openxmlformats.org/officeDocument/2006/relationships/slide" Target="slides/slide1.xml"/><Relationship Id="rId29" Type="http://schemas.openxmlformats.org/officeDocument/2006/relationships/font" Target="fonts/font9.fntdata"/><Relationship Id="rId28" Type="http://schemas.openxmlformats.org/officeDocument/2006/relationships/font" Target="fonts/font8.fntdata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1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59160"/>
            <a:ext cx="10868745" cy="35440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150" dirty="0">
                <a:solidFill>
                  <a:srgbClr val="F2F2F3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The First Thought</a:t>
            </a:r>
            <a:endParaRPr lang="en-US" sz="11150" dirty="0"/>
          </a:p>
        </p:txBody>
      </p:sp>
      <p:sp>
        <p:nvSpPr>
          <p:cNvPr id="3" name="Text 1"/>
          <p:cNvSpPr/>
          <p:nvPr/>
        </p:nvSpPr>
        <p:spPr>
          <a:xfrm>
            <a:off x="661475" y="4981277"/>
            <a:ext cx="10868745" cy="8174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What happens to human thinking when answers become effortless?</a:t>
            </a:r>
            <a:endParaRPr lang="en-US" sz="14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888888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Zijian Su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8112"/>
            <a:ext cx="1334161" cy="1390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F2F2F3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2022 → NOW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61475" y="840780"/>
            <a:ext cx="10868745" cy="4724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  <a:sym typeface="+mn-ea"/>
              </a:rPr>
              <a:t>I am a young builder learning, researching, and creating inside the GenAI era.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61475" y="1494631"/>
            <a:ext cx="11478330" cy="2176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AI moved from task helper to cognitive entry point.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61475" y="1848346"/>
            <a:ext cx="1086815" cy="828873"/>
          </a:xfrm>
          <a:prstGeom prst="roundRect">
            <a:avLst>
              <a:gd name="adj" fmla="val 7662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8523" y="2129830"/>
            <a:ext cx="212620" cy="2658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899495" y="1999555"/>
            <a:ext cx="9479519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Homework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899495" y="2308324"/>
            <a:ext cx="9479519" cy="2176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Daily practice and basics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823893" y="2669282"/>
            <a:ext cx="9630725" cy="9525"/>
          </a:xfrm>
          <a:prstGeom prst="roundRect">
            <a:avLst>
              <a:gd name="adj" fmla="val 666774"/>
            </a:avLst>
          </a:prstGeom>
          <a:solidFill>
            <a:srgbClr val="56565B"/>
          </a:solidFill>
        </p:spPr>
      </p:sp>
      <p:sp>
        <p:nvSpPr>
          <p:cNvPr id="10" name="Shape 8"/>
          <p:cNvSpPr/>
          <p:nvPr/>
        </p:nvSpPr>
        <p:spPr>
          <a:xfrm>
            <a:off x="661475" y="2752824"/>
            <a:ext cx="2173729" cy="828873"/>
          </a:xfrm>
          <a:prstGeom prst="roundRect">
            <a:avLst>
              <a:gd name="adj" fmla="val 7662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2029" y="3034308"/>
            <a:ext cx="212620" cy="2658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986410" y="2904034"/>
            <a:ext cx="8392605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Code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986410" y="3212802"/>
            <a:ext cx="8392605" cy="2176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Implement and iterate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910807" y="3573760"/>
            <a:ext cx="8543810" cy="9525"/>
          </a:xfrm>
          <a:prstGeom prst="roundRect">
            <a:avLst>
              <a:gd name="adj" fmla="val 666774"/>
            </a:avLst>
          </a:prstGeom>
          <a:solidFill>
            <a:srgbClr val="56565B"/>
          </a:solidFill>
        </p:spPr>
      </p:sp>
      <p:sp>
        <p:nvSpPr>
          <p:cNvPr id="15" name="Shape 13"/>
          <p:cNvSpPr/>
          <p:nvPr/>
        </p:nvSpPr>
        <p:spPr>
          <a:xfrm>
            <a:off x="661475" y="3657302"/>
            <a:ext cx="3260544" cy="828873"/>
          </a:xfrm>
          <a:prstGeom prst="roundRect">
            <a:avLst>
              <a:gd name="adj" fmla="val 7662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85437" y="3938786"/>
            <a:ext cx="212620" cy="2658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3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073225" y="3808512"/>
            <a:ext cx="7305790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  <a:sym typeface="+mn-ea"/>
              </a:rPr>
              <a:t>Research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073225" y="4117280"/>
            <a:ext cx="7305790" cy="2176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  <a:sym typeface="+mn-ea"/>
              </a:rPr>
              <a:t>Explore deeper questions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997622" y="4478238"/>
            <a:ext cx="7456995" cy="9525"/>
          </a:xfrm>
          <a:prstGeom prst="roundRect">
            <a:avLst>
              <a:gd name="adj" fmla="val 666774"/>
            </a:avLst>
          </a:prstGeom>
          <a:solidFill>
            <a:srgbClr val="56565B"/>
          </a:solidFill>
        </p:spPr>
      </p:sp>
      <p:sp>
        <p:nvSpPr>
          <p:cNvPr id="20" name="Shape 18"/>
          <p:cNvSpPr/>
          <p:nvPr/>
        </p:nvSpPr>
        <p:spPr>
          <a:xfrm>
            <a:off x="661475" y="4561780"/>
            <a:ext cx="4347458" cy="828873"/>
          </a:xfrm>
          <a:prstGeom prst="roundRect">
            <a:avLst>
              <a:gd name="adj" fmla="val 7662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28844" y="4843264"/>
            <a:ext cx="212620" cy="2658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4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160139" y="4712990"/>
            <a:ext cx="6218876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  <a:sym typeface="+mn-ea"/>
              </a:rPr>
              <a:t>Startup Ideas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160139" y="5021759"/>
            <a:ext cx="6218876" cy="2176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  <a:sym typeface="+mn-ea"/>
              </a:rPr>
              <a:t>Seed bold product concepts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84536" y="5382716"/>
            <a:ext cx="6370081" cy="9525"/>
          </a:xfrm>
          <a:prstGeom prst="roundRect">
            <a:avLst>
              <a:gd name="adj" fmla="val 666774"/>
            </a:avLst>
          </a:prstGeom>
          <a:solidFill>
            <a:srgbClr val="56565B"/>
          </a:solidFill>
        </p:spPr>
      </p:sp>
      <p:sp>
        <p:nvSpPr>
          <p:cNvPr id="25" name="Shape 23"/>
          <p:cNvSpPr/>
          <p:nvPr/>
        </p:nvSpPr>
        <p:spPr>
          <a:xfrm>
            <a:off x="661475" y="5466259"/>
            <a:ext cx="5434373" cy="828873"/>
          </a:xfrm>
          <a:prstGeom prst="roundRect">
            <a:avLst>
              <a:gd name="adj" fmla="val 7662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72351" y="5747742"/>
            <a:ext cx="212620" cy="2658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5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247053" y="5617468"/>
            <a:ext cx="5131961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Daily Life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247053" y="5926237"/>
            <a:ext cx="5131961" cy="2176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Plan, decision and navigation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1627"/>
            <a:ext cx="10868745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The Language Shift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75023"/>
            <a:ext cx="1157556" cy="1738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F2F2F3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BEFORE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081113"/>
            <a:ext cx="5203794" cy="354419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400" i="1" dirty="0">
                <a:solidFill>
                  <a:srgbClr val="F2F2F3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"I think the problem might be..."</a:t>
            </a:r>
            <a:endParaRPr lang="en-US" sz="7400" dirty="0"/>
          </a:p>
        </p:txBody>
      </p:sp>
      <p:sp>
        <p:nvSpPr>
          <p:cNvPr id="5" name="Text 3"/>
          <p:cNvSpPr/>
          <p:nvPr/>
        </p:nvSpPr>
        <p:spPr>
          <a:xfrm>
            <a:off x="661475" y="5814318"/>
            <a:ext cx="5813379" cy="2418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i="1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A tentative, personal formation of thought.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332776" y="1775023"/>
            <a:ext cx="954758" cy="1738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F2F2F3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NOW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332776" y="2081113"/>
            <a:ext cx="5203794" cy="236279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400" i="1" dirty="0">
                <a:solidFill>
                  <a:srgbClr val="F2F2F3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"What do you think?"</a:t>
            </a:r>
            <a:endParaRPr lang="en-US" sz="7400" dirty="0"/>
          </a:p>
        </p:txBody>
      </p:sp>
      <p:sp>
        <p:nvSpPr>
          <p:cNvPr id="8" name="Text 6"/>
          <p:cNvSpPr/>
          <p:nvPr/>
        </p:nvSpPr>
        <p:spPr>
          <a:xfrm>
            <a:off x="6332776" y="4632920"/>
            <a:ext cx="5813379" cy="2418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i="1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The first move redirected outward — before a personal opinion had formed.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64445"/>
            <a:ext cx="10868745" cy="8151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F2F2F3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AI did not stop me from thinking.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661475" y="3163094"/>
            <a:ext cx="10868745" cy="16303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b="1" dirty="0">
                <a:solidFill>
                  <a:srgbClr val="F2F2F3"/>
                </a:solidFill>
                <a:latin typeface="Poppins Bold" panose="00000800000000000000" pitchFamily="34" charset="0"/>
                <a:ea typeface="Poppins Bold" panose="00000800000000000000" pitchFamily="34" charset="-122"/>
                <a:cs typeface="Poppins Bold" panose="00000800000000000000" pitchFamily="34" charset="-120"/>
              </a:rPr>
              <a:t>It made not thinking first too convenient.</a:t>
            </a:r>
            <a:endParaRPr lang="en-US" sz="5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5177"/>
            <a:ext cx="10868745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The Missing Step Before the Answer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58305"/>
            <a:ext cx="5203794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Before AI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666206"/>
            <a:ext cx="5203794" cy="19527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66069" y="4144888"/>
            <a:ext cx="784877" cy="151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Answer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876909" y="4069288"/>
            <a:ext cx="784877" cy="30240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Search &amp; Revision</a:t>
            </a:r>
            <a:endParaRPr lang="en-US" sz="1200" dirty="0">
              <a:solidFill>
                <a:srgbClr val="E5E0DF"/>
              </a:solidFill>
              <a:latin typeface="Poppins Light" panose="00000400000000000000" pitchFamily="34" charset="0"/>
              <a:ea typeface="Poppins Light" panose="00000400000000000000" pitchFamily="34" charset="-122"/>
              <a:cs typeface="Poppins Light" panose="00000400000000000000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893125" y="4144888"/>
            <a:ext cx="784877" cy="151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First Guess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909341" y="4144888"/>
            <a:ext cx="784877" cy="151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Confusion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04054" y="4144888"/>
            <a:ext cx="784877" cy="151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1475" y="4831556"/>
            <a:ext cx="5813379" cy="2418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i="1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Wide, messy — and generative.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332776" y="2158305"/>
            <a:ext cx="5203794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With AI</a:t>
            </a:r>
            <a:endParaRPr lang="en-US" sz="18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046" y="2666206"/>
            <a:ext cx="3297254" cy="19569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580988" y="4090315"/>
            <a:ext cx="819627" cy="3157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Complete Answer</a:t>
            </a:r>
            <a:endParaRPr lang="en-US" sz="1200" dirty="0">
              <a:solidFill>
                <a:srgbClr val="E5E0DF"/>
              </a:solidFill>
              <a:latin typeface="Poppins Light" panose="00000400000000000000" pitchFamily="34" charset="0"/>
              <a:ea typeface="Poppins Light" panose="00000400000000000000" pitchFamily="34" charset="-122"/>
              <a:cs typeface="Poppins Light" panose="00000400000000000000" pitchFamily="34" charset="-12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8548033" y="4169262"/>
            <a:ext cx="819627" cy="1578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Ask AI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498238" y="4169262"/>
            <a:ext cx="819627" cy="1578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332776" y="4835823"/>
            <a:ext cx="5813379" cy="2418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i="1" dirty="0">
                <a:solidFill>
                  <a:srgbClr val="000000"/>
                </a:solidFill>
                <a:highlight>
                  <a:srgbClr val="FFE066"/>
                </a:highlight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First Guess</a:t>
            </a:r>
            <a:r>
              <a:rPr lang="en-US" sz="1400" i="1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 — quietly gone.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61475" y="5460405"/>
            <a:ext cx="11478330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We still evaluate AI answers. But we often evaluate inside the frame AI created first.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7246"/>
            <a:ext cx="10868745" cy="44301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Thinking Compression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0043" y="1322884"/>
            <a:ext cx="8151509" cy="45497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992217"/>
            <a:ext cx="11478330" cy="1984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The compressed parts — wrong guesses, doubts, detours — may be where original thinking begins.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2775"/>
            <a:ext cx="10868745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The First Thought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81448"/>
            <a:ext cx="10868745" cy="8174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A first thought is the imperfect explanation we form before seeing an external answer.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It may be wrong. But it gives us a starting point.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895005"/>
            <a:ext cx="5339820" cy="189012"/>
          </a:xfrm>
          <a:prstGeom prst="roundRect">
            <a:avLst>
              <a:gd name="adj" fmla="val 42001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482" y="3273028"/>
            <a:ext cx="4961806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Seed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0482" y="3681710"/>
            <a:ext cx="4961806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The imperfect first thought, formed before any external answer.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90301" y="2611537"/>
            <a:ext cx="5339919" cy="189012"/>
          </a:xfrm>
          <a:prstGeom prst="roundRect">
            <a:avLst>
              <a:gd name="adj" fmla="val 42001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79308" y="2989560"/>
            <a:ext cx="4961905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Sprout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79308" y="3398242"/>
            <a:ext cx="4961905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A foothold: something personal to build on.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61475" y="4948039"/>
            <a:ext cx="5339820" cy="189012"/>
          </a:xfrm>
          <a:prstGeom prst="roundRect">
            <a:avLst>
              <a:gd name="adj" fmla="val 42001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482" y="5326063"/>
            <a:ext cx="4961806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Branch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50482" y="5734745"/>
            <a:ext cx="4961806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Reasoning extends outward, testing and revising.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90301" y="4664571"/>
            <a:ext cx="5339919" cy="189012"/>
          </a:xfrm>
          <a:prstGeom prst="roundRect">
            <a:avLst>
              <a:gd name="adj" fmla="val 42001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9308" y="5042595"/>
            <a:ext cx="4961905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Tree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379308" y="5451277"/>
            <a:ext cx="4961905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Understanding that belongs to you, rooted in your own thinking.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14711"/>
            <a:ext cx="10868745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This Is Not Only a Personal Feeling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783384"/>
            <a:ext cx="3496877" cy="1744762"/>
          </a:xfrm>
          <a:prstGeom prst="rect">
            <a:avLst/>
          </a:prstGeom>
        </p:spPr>
      </p:pic>
      <p:sp>
        <p:nvSpPr>
          <p:cNvPr id="4" name="Text 1"/>
          <p:cNvSpPr/>
          <p:nvPr>
            <p:custDataLst>
              <p:tags r:id="rId4"/>
            </p:custDataLst>
          </p:nvPr>
        </p:nvSpPr>
        <p:spPr>
          <a:xfrm>
            <a:off x="977479" y="2997795"/>
            <a:ext cx="2966467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Cognitive Offloading</a:t>
            </a:r>
            <a:endParaRPr lang="en-US" sz="1850" dirty="0"/>
          </a:p>
        </p:txBody>
      </p:sp>
      <p:sp>
        <p:nvSpPr>
          <p:cNvPr id="5" name="Text 2"/>
          <p:cNvSpPr/>
          <p:nvPr>
            <p:custDataLst>
              <p:tags r:id="rId5"/>
            </p:custDataLst>
          </p:nvPr>
        </p:nvSpPr>
        <p:spPr>
          <a:xfrm>
            <a:off x="977479" y="3406477"/>
            <a:ext cx="2966467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We outsource memory and calculation. GenAI may let us outsource judgment and reasoning.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783384"/>
            <a:ext cx="3496877" cy="1744762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7"/>
            </p:custDataLst>
          </p:nvPr>
        </p:nvSpPr>
        <p:spPr>
          <a:xfrm>
            <a:off x="4663363" y="2997795"/>
            <a:ext cx="2966467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Automation Bias</a:t>
            </a:r>
            <a:endParaRPr lang="en-US" sz="1850" dirty="0"/>
          </a:p>
        </p:txBody>
      </p:sp>
      <p:sp>
        <p:nvSpPr>
          <p:cNvPr id="8" name="Text 4"/>
          <p:cNvSpPr/>
          <p:nvPr>
            <p:custDataLst>
              <p:tags r:id="rId8"/>
            </p:custDataLst>
          </p:nvPr>
        </p:nvSpPr>
        <p:spPr>
          <a:xfrm>
            <a:off x="4663363" y="3406477"/>
            <a:ext cx="2966467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A fluent answer can feel complete before we build our own alternative.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783384"/>
            <a:ext cx="3496877" cy="1744762"/>
          </a:xfrm>
          <a:prstGeom prst="rect">
            <a:avLst/>
          </a:prstGeom>
        </p:spPr>
      </p:pic>
      <p:sp>
        <p:nvSpPr>
          <p:cNvPr id="10" name="Text 5"/>
          <p:cNvSpPr/>
          <p:nvPr>
            <p:custDataLst>
              <p:tags r:id="rId10"/>
            </p:custDataLst>
          </p:nvPr>
        </p:nvSpPr>
        <p:spPr>
          <a:xfrm>
            <a:off x="8349247" y="2997795"/>
            <a:ext cx="2966467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Critical Thinking</a:t>
            </a:r>
            <a:endParaRPr lang="en-US" sz="1850" dirty="0"/>
          </a:p>
        </p:txBody>
      </p:sp>
      <p:sp>
        <p:nvSpPr>
          <p:cNvPr id="11" name="Text 6"/>
          <p:cNvSpPr/>
          <p:nvPr>
            <p:custDataLst>
              <p:tags r:id="rId11"/>
            </p:custDataLst>
          </p:nvPr>
        </p:nvSpPr>
        <p:spPr>
          <a:xfrm>
            <a:off x="8349247" y="3406477"/>
            <a:ext cx="2966467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Higher trust in AI may reduce the effort users spend critically examining a task.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661475" y="4740771"/>
            <a:ext cx="11478330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Research does not prove AI makes people less capable. But it supports the concern that AI changes where cognitive effort happens.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204"/>
            <a:ext cx="10868745" cy="4291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2F2F3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From Individual Habit to Collective Pattern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0043" y="1148854"/>
            <a:ext cx="8151509" cy="45852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846366"/>
            <a:ext cx="10868745" cy="4914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850"/>
              </a:spcAft>
              <a:buNone/>
            </a:pPr>
            <a:r>
              <a:rPr lang="en-US" sz="10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Different people → Similar models → Similar frames → Similar answers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Innovation needs diverse paths to answers. This is not anti-AI. It is about preserving the cognitive biodiversity that makes new ideas possible.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82663"/>
            <a:ext cx="10868745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The Answer Is Not Less AI.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356682" y="2751336"/>
            <a:ext cx="11478330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The question is: What should remain human?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266380"/>
            <a:ext cx="378014" cy="23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3562251"/>
            <a:ext cx="3496877" cy="25400"/>
          </a:xfrm>
          <a:prstGeom prst="rect">
            <a:avLst/>
          </a:prstGeom>
          <a:solidFill>
            <a:srgbClr val="F2F2F3"/>
          </a:solidFill>
        </p:spPr>
      </p:sp>
      <p:sp>
        <p:nvSpPr>
          <p:cNvPr id="6" name="Text 4"/>
          <p:cNvSpPr/>
          <p:nvPr/>
        </p:nvSpPr>
        <p:spPr>
          <a:xfrm>
            <a:off x="661475" y="3707507"/>
            <a:ext cx="3496877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Human Starts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4116189"/>
            <a:ext cx="3496877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Form your own first thought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347359" y="3266380"/>
            <a:ext cx="378014" cy="23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47359" y="3562251"/>
            <a:ext cx="3496877" cy="25400"/>
          </a:xfrm>
          <a:prstGeom prst="rect">
            <a:avLst/>
          </a:prstGeom>
          <a:solidFill>
            <a:srgbClr val="F2F2F3"/>
          </a:solidFill>
        </p:spPr>
      </p:sp>
      <p:sp>
        <p:nvSpPr>
          <p:cNvPr id="10" name="Text 8"/>
          <p:cNvSpPr/>
          <p:nvPr/>
        </p:nvSpPr>
        <p:spPr>
          <a:xfrm>
            <a:off x="4347359" y="3707507"/>
            <a:ext cx="3496877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AI Expands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347359" y="4116189"/>
            <a:ext cx="3496877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Deepen, challenge, connect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033244" y="3266380"/>
            <a:ext cx="378014" cy="23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03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033244" y="3562251"/>
            <a:ext cx="3496877" cy="25400"/>
          </a:xfrm>
          <a:prstGeom prst="rect">
            <a:avLst/>
          </a:prstGeom>
          <a:solidFill>
            <a:srgbClr val="F2F2F3"/>
          </a:solidFill>
        </p:spPr>
      </p:sp>
      <p:sp>
        <p:nvSpPr>
          <p:cNvPr id="14" name="Text 12"/>
          <p:cNvSpPr/>
          <p:nvPr/>
        </p:nvSpPr>
        <p:spPr>
          <a:xfrm>
            <a:off x="8033244" y="3707507"/>
            <a:ext cx="3496877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Human Decides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033244" y="4116189"/>
            <a:ext cx="3496877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Own the conclusion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56682" y="4772918"/>
            <a:ext cx="11478330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Not human replaced by AI. Human first, AI second.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84970"/>
            <a:ext cx="10868745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What I Kept Losing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953643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3149005"/>
            <a:ext cx="3106164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Fleeting Ideas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557687"/>
            <a:ext cx="3106164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Thoughts disappeared before I could record them.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953643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3149005"/>
            <a:ext cx="3106164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Ownership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3557687"/>
            <a:ext cx="3106164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After long AI conversations, I could not tell which ideas were mine.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953643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3149005"/>
            <a:ext cx="3106164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Evolution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3557687"/>
            <a:ext cx="3106164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I remembered the conclusion, but not how my view had changed.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6682" y="4570512"/>
            <a:ext cx="11478330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This is the real reason I built a tool: not to replace thinking, but to preserve the origin and evolution of thought.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65727" y="1611015"/>
            <a:ext cx="4070744" cy="11812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A Personal Prototype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7465727" y="2981325"/>
            <a:ext cx="4070744" cy="1852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I built a small tool for myself.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Not to replace thinking.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To preserve the moment when a thought begins — before it is overwritten by something more complete.</a:t>
            </a:r>
            <a:endParaRPr lang="en-US" sz="145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r="14956"/>
          <a:stretch>
            <a:fillRect/>
          </a:stretch>
        </p:blipFill>
        <p:spPr>
          <a:xfrm>
            <a:off x="405765" y="1493520"/>
            <a:ext cx="6775450" cy="38715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3277"/>
            <a:ext cx="6434175" cy="194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endParaRPr lang="en-US" sz="1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r="1376" b="490"/>
          <a:stretch>
            <a:fillRect/>
          </a:stretch>
        </p:blipFill>
        <p:spPr>
          <a:xfrm>
            <a:off x="1024255" y="777875"/>
            <a:ext cx="4633595" cy="52228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32727" y="673596"/>
            <a:ext cx="4703744" cy="4360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2F2F3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Human First. AI Second.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832727" y="1212652"/>
            <a:ext cx="5313329" cy="194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i="1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Not to speed up thinking — to preserve it.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727" y="1731863"/>
            <a:ext cx="2300329" cy="952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72225" y="2253456"/>
            <a:ext cx="2021333" cy="2179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Capture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972225" y="2574429"/>
            <a:ext cx="2021333" cy="194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My original words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6042" y="1522611"/>
            <a:ext cx="2300428" cy="952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75540" y="2044204"/>
            <a:ext cx="2021432" cy="2179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Clarify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9375540" y="2365177"/>
            <a:ext cx="2021432" cy="194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What I actually mean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727" y="3220244"/>
            <a:ext cx="2300329" cy="9525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72225" y="3741837"/>
            <a:ext cx="2021333" cy="2179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Challenge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972225" y="4062809"/>
            <a:ext cx="2021333" cy="194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One counterexample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6042" y="3010991"/>
            <a:ext cx="2300428" cy="9525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375540" y="3532584"/>
            <a:ext cx="2021432" cy="2179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Connect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9375540" y="3853557"/>
            <a:ext cx="2021432" cy="194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Earlier thoughts</a:t>
            </a:r>
            <a:endParaRPr lang="en-US" sz="10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727" y="4708624"/>
            <a:ext cx="2300329" cy="9525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972225" y="5230217"/>
            <a:ext cx="2021333" cy="2179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Evolve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6972225" y="5551190"/>
            <a:ext cx="2021333" cy="194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How my view changes</a:t>
            </a:r>
            <a:endParaRPr lang="en-US" sz="10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6042" y="4499372"/>
            <a:ext cx="2300428" cy="9525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9375540" y="5020965"/>
            <a:ext cx="2021432" cy="2179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Create</a:t>
            </a:r>
            <a:endParaRPr lang="en-US" sz="1350" dirty="0"/>
          </a:p>
        </p:txBody>
      </p:sp>
      <p:sp>
        <p:nvSpPr>
          <p:cNvPr id="23" name="Text 14"/>
          <p:cNvSpPr/>
          <p:nvPr/>
        </p:nvSpPr>
        <p:spPr>
          <a:xfrm>
            <a:off x="9375540" y="5341938"/>
            <a:ext cx="2021432" cy="194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Turn ideas into work</a:t>
            </a:r>
            <a:endParaRPr lang="en-US" sz="1050" dirty="0"/>
          </a:p>
        </p:txBody>
      </p:sp>
      <p:sp>
        <p:nvSpPr>
          <p:cNvPr id="24" name="Text 15"/>
          <p:cNvSpPr/>
          <p:nvPr/>
        </p:nvSpPr>
        <p:spPr>
          <a:xfrm>
            <a:off x="6527934" y="6000651"/>
            <a:ext cx="5313329" cy="194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600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47391"/>
            <a:ext cx="10868745" cy="236279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400" dirty="0">
                <a:solidFill>
                  <a:srgbClr val="F2F2F3"/>
                </a:solidFill>
                <a:latin typeface="Poppins Light" panose="00000400000000000000" pitchFamily="34" charset="0"/>
                <a:ea typeface="Poppins Light" panose="00000400000000000000" pitchFamily="34" charset="-122"/>
                <a:cs typeface="Poppins Light" panose="00000400000000000000" pitchFamily="34" charset="-120"/>
              </a:rPr>
              <a:t>Creativity begins before the answer.</a:t>
            </a:r>
            <a:endParaRPr lang="en-US" sz="7400" dirty="0"/>
          </a:p>
        </p:txBody>
      </p:sp>
      <p:sp>
        <p:nvSpPr>
          <p:cNvPr id="3" name="Text 1"/>
          <p:cNvSpPr/>
          <p:nvPr/>
        </p:nvSpPr>
        <p:spPr>
          <a:xfrm>
            <a:off x="661475" y="4088209"/>
            <a:ext cx="10868745" cy="142230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It begins with a question,</a:t>
            </a:r>
            <a:endParaRPr lang="en-US" sz="14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an imperfect first thought,</a:t>
            </a:r>
            <a:endParaRPr lang="en-US" sz="1450" dirty="0"/>
          </a:p>
          <a:p>
            <a:pPr marL="0" indent="0" algn="ctr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5E0DF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and a path that is still our own.</a:t>
            </a:r>
            <a:endParaRPr lang="en-US" sz="14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999999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The future of AI should not only generate better answers. It should preserve human originality.</a:t>
            </a:r>
            <a:endParaRPr lang="en-US" sz="14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37.3828346456693,&quot;left&quot;:52.08464566929134,&quot;top&quot;:219.164094488189,&quot;width&quot;:855.7988976377952}"/>
</p:tagLst>
</file>

<file path=ppt/tags/tag2.xml><?xml version="1.0" encoding="utf-8"?>
<p:tagLst xmlns:p="http://schemas.openxmlformats.org/presentationml/2006/main">
  <p:tag name="KSO_WM_DIAGRAM_VIRTUALLY_FRAME" val="{&quot;height&quot;:137.3828346456693,&quot;left&quot;:52.08464566929134,&quot;top&quot;:219.164094488189,&quot;width&quot;:855.7988976377952}"/>
</p:tagLst>
</file>

<file path=ppt/tags/tag3.xml><?xml version="1.0" encoding="utf-8"?>
<p:tagLst xmlns:p="http://schemas.openxmlformats.org/presentationml/2006/main">
  <p:tag name="KSO_WM_DIAGRAM_VIRTUALLY_FRAME" val="{&quot;height&quot;:137.3828346456693,&quot;left&quot;:52.08464566929134,&quot;top&quot;:219.164094488189,&quot;width&quot;:855.7988976377952}"/>
</p:tagLst>
</file>

<file path=ppt/tags/tag4.xml><?xml version="1.0" encoding="utf-8"?>
<p:tagLst xmlns:p="http://schemas.openxmlformats.org/presentationml/2006/main">
  <p:tag name="KSO_WM_DIAGRAM_VIRTUALLY_FRAME" val="{&quot;height&quot;:137.3828346456693,&quot;left&quot;:52.08464566929134,&quot;top&quot;:219.164094488189,&quot;width&quot;:855.7988976377952}"/>
</p:tagLst>
</file>

<file path=ppt/tags/tag5.xml><?xml version="1.0" encoding="utf-8"?>
<p:tagLst xmlns:p="http://schemas.openxmlformats.org/presentationml/2006/main">
  <p:tag name="KSO_WM_DIAGRAM_VIRTUALLY_FRAME" val="{&quot;height&quot;:137.3828346456693,&quot;left&quot;:52.08464566929134,&quot;top&quot;:219.164094488189,&quot;width&quot;:855.7988976377952}"/>
</p:tagLst>
</file>

<file path=ppt/tags/tag6.xml><?xml version="1.0" encoding="utf-8"?>
<p:tagLst xmlns:p="http://schemas.openxmlformats.org/presentationml/2006/main">
  <p:tag name="KSO_WM_DIAGRAM_VIRTUALLY_FRAME" val="{&quot;height&quot;:137.3828346456693,&quot;left&quot;:52.08464566929134,&quot;top&quot;:219.164094488189,&quot;width&quot;:855.7988976377952}"/>
</p:tagLst>
</file>

<file path=ppt/tags/tag7.xml><?xml version="1.0" encoding="utf-8"?>
<p:tagLst xmlns:p="http://schemas.openxmlformats.org/presentationml/2006/main">
  <p:tag name="KSO_WM_DIAGRAM_VIRTUALLY_FRAME" val="{&quot;height&quot;:137.3828346456693,&quot;left&quot;:52.08464566929134,&quot;top&quot;:219.164094488189,&quot;width&quot;:855.7988976377952}"/>
</p:tagLst>
</file>

<file path=ppt/tags/tag8.xml><?xml version="1.0" encoding="utf-8"?>
<p:tagLst xmlns:p="http://schemas.openxmlformats.org/presentationml/2006/main">
  <p:tag name="KSO_WM_DIAGRAM_VIRTUALLY_FRAME" val="{&quot;height&quot;:137.3828346456693,&quot;left&quot;:52.08464566929134,&quot;top&quot;:219.164094488189,&quot;width&quot;:855.7988976377952}"/>
</p:tagLst>
</file>

<file path=ppt/tags/tag9.xml><?xml version="1.0" encoding="utf-8"?>
<p:tagLst xmlns:p="http://schemas.openxmlformats.org/presentationml/2006/main">
  <p:tag name="KSO_WM_DIAGRAM_VIRTUALLY_FRAME" val="{&quot;height&quot;:137.3828346456693,&quot;left&quot;:52.08464566929134,&quot;top&quot;:219.164094488189,&quot;width&quot;:855.798897637795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3344</Words>
  <Application>WPS 演示</Application>
  <PresentationFormat>On-screen Show (16:9)</PresentationFormat>
  <Paragraphs>214</Paragraphs>
  <Slides>14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1" baseType="lpstr">
      <vt:lpstr>Arial</vt:lpstr>
      <vt:lpstr>宋体</vt:lpstr>
      <vt:lpstr>Wingdings</vt:lpstr>
      <vt:lpstr>Poppins Light</vt:lpstr>
      <vt:lpstr>Poppins Light</vt:lpstr>
      <vt:lpstr>Poppins Light</vt:lpstr>
      <vt:lpstr>Roboto Light</vt:lpstr>
      <vt:lpstr>Roboto Light</vt:lpstr>
      <vt:lpstr>Roboto Light</vt:lpstr>
      <vt:lpstr>Poppins Bold</vt:lpstr>
      <vt:lpstr>Poppins Bold</vt:lpstr>
      <vt:lpstr>Poppins Bold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 </cp:lastModifiedBy>
  <cp:revision>5</cp:revision>
  <dcterms:created xsi:type="dcterms:W3CDTF">2026-07-16T03:17:00Z</dcterms:created>
  <dcterms:modified xsi:type="dcterms:W3CDTF">2026-07-16T18:07:54Z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BA6FC9C817294CE986AC1273CE1E2F16_12</vt:lpwstr>
  </property>
  <property fmtid="{D5CDD505-2E9C-101B-9397-08002B2CF9AE}" pid="3" name="KSOProductBuildVer">
    <vt:lpwstr>2052-12.1.0.23542</vt:lpwstr>
  </property>
</Properties>
</file>